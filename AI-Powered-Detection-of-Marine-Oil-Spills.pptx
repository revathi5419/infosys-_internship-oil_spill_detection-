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34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Detection of Marine Oil Spills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91777"/>
            <a:ext cx="7425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Reproducible Workflow Using Satellite SAR Imagery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369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Objective: Rapid &amp; Reliable Environmental Response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44885"/>
            <a:ext cx="13042821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852505"/>
            <a:ext cx="4342448" cy="2395657"/>
          </a:xfrm>
          <a:prstGeom prst="roundRect">
            <a:avLst>
              <a:gd name="adj" fmla="val 3977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4079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569738"/>
            <a:ext cx="35486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Oil spills cause severe, long-lasting environmental damage and require immediate action to contain.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3857" y="3852505"/>
            <a:ext cx="4342567" cy="2395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5143857" y="3852505"/>
            <a:ext cx="30480" cy="239565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5710833" y="4079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0833" y="4569738"/>
            <a:ext cx="320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satellite data analysis is slow, subjective, and struggles with large-scale monitoring.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860369" y="476678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054" y="4908471"/>
            <a:ext cx="283488" cy="2834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6424" y="3852505"/>
            <a:ext cx="4342567" cy="2395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6424" y="3852505"/>
            <a:ext cx="30480" cy="239565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3399" y="4079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053399" y="4569738"/>
            <a:ext cx="354877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segmentation model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reliable, rapid spill localisation from SAR data.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202936" y="476678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4620" y="4908471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737" y="441365"/>
            <a:ext cx="8302823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Overview: Sentinel-1 SAR Imagery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1737" y="1344097"/>
            <a:ext cx="269367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 and Annotation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61737" y="1805464"/>
            <a:ext cx="7947541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Sentinel-1 Synthetic Aperture Radar (SAR) imagery, provided via Kaggle.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1737" y="2118241"/>
            <a:ext cx="7947541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 Data: Ideal for spill detection due to oil's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surface-damping effect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(appearing dark against water).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1737" y="2687717"/>
            <a:ext cx="7947541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Annotation: Images manually labelled for spill presence and exact boundary segmentation.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1737" y="3104912"/>
            <a:ext cx="2407444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 Statistics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61737" y="3666530"/>
            <a:ext cx="3873460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850</a:t>
            </a:r>
            <a:endParaRPr lang="en-US" sz="4150" dirty="0"/>
          </a:p>
        </p:txBody>
      </p:sp>
      <p:sp>
        <p:nvSpPr>
          <p:cNvPr id="9" name="Text 7"/>
          <p:cNvSpPr/>
          <p:nvPr/>
        </p:nvSpPr>
        <p:spPr>
          <a:xfrm>
            <a:off x="561737" y="4396740"/>
            <a:ext cx="3873460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Annotated Images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35818" y="3666530"/>
            <a:ext cx="3873460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243</a:t>
            </a:r>
            <a:endParaRPr lang="en-US" sz="4150" dirty="0"/>
          </a:p>
        </p:txBody>
      </p:sp>
      <p:sp>
        <p:nvSpPr>
          <p:cNvPr id="11" name="Text 9"/>
          <p:cNvSpPr/>
          <p:nvPr/>
        </p:nvSpPr>
        <p:spPr>
          <a:xfrm>
            <a:off x="4635818" y="4396740"/>
            <a:ext cx="3873460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Spill Instances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8375" y="1364099"/>
            <a:ext cx="5167789" cy="516778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1737" y="6892885"/>
            <a:ext cx="13506926" cy="1780937"/>
          </a:xfrm>
          <a:prstGeom prst="roundRect">
            <a:avLst>
              <a:gd name="adj" fmla="val 3785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53760" y="6892885"/>
            <a:ext cx="13522881" cy="1780937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714256" y="7013258"/>
            <a:ext cx="13201888" cy="1540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Code Snippet for Data Loadingdef load_dataset(path): images = np.load(path + 'images.npy') masks = np.load(path + 'masks.npy') return images, masks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408" y="318492"/>
            <a:ext cx="453628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(EDA)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05408" y="5509379"/>
            <a:ext cx="13819584" cy="15240"/>
          </a:xfrm>
          <a:prstGeom prst="roundRect">
            <a:avLst>
              <a:gd name="adj" fmla="val 319242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3816429" y="5277862"/>
            <a:ext cx="15240" cy="231577"/>
          </a:xfrm>
          <a:prstGeom prst="roundRect">
            <a:avLst>
              <a:gd name="adj" fmla="val 319242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3780651" y="5465921"/>
            <a:ext cx="86797" cy="86797"/>
          </a:xfrm>
          <a:prstGeom prst="roundRect">
            <a:avLst>
              <a:gd name="adj" fmla="val 526746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2894052" y="912019"/>
            <a:ext cx="18599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Pixel Intensity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137" y="1162407"/>
            <a:ext cx="6605945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histogram shows a high concentration of low-intensity pixels (water background).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137" y="1477923"/>
            <a:ext cx="6605945" cy="3684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07461" y="5509320"/>
            <a:ext cx="15240" cy="231577"/>
          </a:xfrm>
          <a:prstGeom prst="roundRect">
            <a:avLst>
              <a:gd name="adj" fmla="val 319242"/>
            </a:avLst>
          </a:prstGeom>
          <a:solidFill>
            <a:srgbClr val="C0C1D7"/>
          </a:solidFill>
          <a:ln/>
        </p:spPr>
      </p:sp>
      <p:sp>
        <p:nvSpPr>
          <p:cNvPr id="10" name="Shape 7"/>
          <p:cNvSpPr/>
          <p:nvPr/>
        </p:nvSpPr>
        <p:spPr>
          <a:xfrm>
            <a:off x="7271683" y="5465921"/>
            <a:ext cx="86797" cy="86797"/>
          </a:xfrm>
          <a:prstGeom prst="roundRect">
            <a:avLst>
              <a:gd name="adj" fmla="val 526746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6591181" y="5856803"/>
            <a:ext cx="14479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Noise and Artifacts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2168" y="6107192"/>
            <a:ext cx="6605945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 images often contain speckle noise, land masks, and wind-related false positives.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168" y="6422708"/>
            <a:ext cx="6605945" cy="3684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798612" y="5277862"/>
            <a:ext cx="15240" cy="231577"/>
          </a:xfrm>
          <a:prstGeom prst="roundRect">
            <a:avLst>
              <a:gd name="adj" fmla="val 319242"/>
            </a:avLst>
          </a:prstGeom>
          <a:solidFill>
            <a:srgbClr val="C0C1D7"/>
          </a:solidFill>
          <a:ln/>
        </p:spPr>
      </p:sp>
      <p:sp>
        <p:nvSpPr>
          <p:cNvPr id="15" name="Shape 11"/>
          <p:cNvSpPr/>
          <p:nvPr/>
        </p:nvSpPr>
        <p:spPr>
          <a:xfrm>
            <a:off x="10762833" y="5465921"/>
            <a:ext cx="86797" cy="86797"/>
          </a:xfrm>
          <a:prstGeom prst="roundRect">
            <a:avLst>
              <a:gd name="adj" fmla="val 526746"/>
            </a:avLst>
          </a:prstGeom>
          <a:solidFill>
            <a:srgbClr val="4950BC"/>
          </a:solidFill>
          <a:ln/>
        </p:spPr>
      </p:sp>
      <p:sp>
        <p:nvSpPr>
          <p:cNvPr id="16" name="Text 12"/>
          <p:cNvSpPr/>
          <p:nvPr/>
        </p:nvSpPr>
        <p:spPr>
          <a:xfrm>
            <a:off x="10081022" y="912019"/>
            <a:ext cx="14504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Normalisation Focus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503319" y="1162407"/>
            <a:ext cx="6605945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normalisation critical to reduce dynamic range and improve model convergence.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319" y="1477923"/>
            <a:ext cx="6605945" cy="3684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1204"/>
            <a:ext cx="77765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36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7865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52963"/>
            <a:ext cx="419635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Resizing &amp; Padding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73963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Standardise all input images to a uniform resolution (e.g., 256x256) suitable for U-Net architecture.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2236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57865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752963"/>
            <a:ext cx="38694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Intensity Normalisation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216962" y="33143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Min-max scaling of pixel values to the [0, 1] range to ensure stable training.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4295299"/>
            <a:ext cx="4196358" cy="1791652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5651" y="4295299"/>
            <a:ext cx="4218980" cy="179165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5432465" y="4465320"/>
            <a:ext cx="37653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Normalization Logicimages = (images - images.min()) / (images.max() - images.min())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640133" y="22236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78656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9640133" y="27529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Augmentation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640133" y="3314343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dataset diversity using random flips (horizontal/vertical) and rotations to improve generalisation.</a:t>
            </a:r>
            <a:endParaRPr lang="en-US" sz="17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0133" y="4658201"/>
            <a:ext cx="4196358" cy="2340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00100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Extraction and Input Format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030843" y="1752481"/>
            <a:ext cx="6032897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requires raw pixel arrays as the primary features, allowing the CNN to learn complex spatial and textural patterns inherent to SAR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1638" y="1752481"/>
            <a:ext cx="22860" cy="989767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21638" y="297418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Features: Normalised pixel arrays (256x256x1).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37625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Detection: Implicitly learned by the model layers.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778329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Format: Binary mask (256x256x1) where 1 indicates oil, 0 indicates water/background.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1638" y="4670108"/>
            <a:ext cx="6342102" cy="1298853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11398" y="4670108"/>
            <a:ext cx="6362581" cy="1298853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7496" y="4824651"/>
            <a:ext cx="5950387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U-Net Input Shapeinput_shape = (256, 256, 1)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063" y="546497"/>
            <a:ext cx="7757874" cy="1237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Architecture: Deep Segmentation with U-Net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93063" y="1863209"/>
            <a:ext cx="7757874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Leveraging Encoder-Decoder Structure for Precise Localisation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93063" y="2902625"/>
            <a:ext cx="3779877" cy="2445901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0203" y="2902625"/>
            <a:ext cx="91440" cy="2445901"/>
          </a:xfrm>
          <a:prstGeom prst="roundRect">
            <a:avLst>
              <a:gd name="adj" fmla="val 90961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982504" y="3123486"/>
            <a:ext cx="3269575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Encoder (Contracting Path)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82504" y="3860840"/>
            <a:ext cx="3269575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CNN layers (convolution, pooling) to capture high-level semantic features (what the spill is).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670941" y="2902625"/>
            <a:ext cx="3779996" cy="2445901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8081" y="2902625"/>
            <a:ext cx="91440" cy="2445901"/>
          </a:xfrm>
          <a:prstGeom prst="roundRect">
            <a:avLst>
              <a:gd name="adj" fmla="val 90961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960382" y="3123486"/>
            <a:ext cx="3164919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Decoder (Expanding Path)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960382" y="3551515"/>
            <a:ext cx="3269694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Up-sampling layers to restore spatial resolution and enable precise localisation (where the spill is).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3063" y="5546527"/>
            <a:ext cx="3779877" cy="2136577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0203" y="5546527"/>
            <a:ext cx="91440" cy="2136577"/>
          </a:xfrm>
          <a:prstGeom prst="roundRect">
            <a:avLst>
              <a:gd name="adj" fmla="val 90961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982504" y="5767388"/>
            <a:ext cx="247542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Skip Connections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2504" y="6195417"/>
            <a:ext cx="3269575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connects encoder features to the decoder, retaining fine-grained spatial details for better boundary delineation.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542" y="412909"/>
            <a:ext cx="5780365" cy="46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and Evaluation Metrics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5542" y="1257538"/>
            <a:ext cx="306645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25542" y="1689259"/>
            <a:ext cx="730377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for 50 epochs on an NVIDIA V100 GPU.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5542" y="2098358"/>
            <a:ext cx="7303770" cy="1997035"/>
          </a:xfrm>
          <a:prstGeom prst="roundRect">
            <a:avLst>
              <a:gd name="adj" fmla="val 31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3162" y="2105978"/>
            <a:ext cx="7288530" cy="4354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3419" y="2203609"/>
            <a:ext cx="188237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73693" y="2203609"/>
            <a:ext cx="479786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3162" y="2541389"/>
            <a:ext cx="7288530" cy="4354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3419" y="2639020"/>
            <a:ext cx="188237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Loss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73693" y="2639020"/>
            <a:ext cx="479786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 (Optimized)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3162" y="2976801"/>
            <a:ext cx="7288530" cy="4354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3419" y="3074432"/>
            <a:ext cx="188237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 Accuracy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3693" y="3074432"/>
            <a:ext cx="479786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3162" y="3412212"/>
            <a:ext cx="7288530" cy="6755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3419" y="3509843"/>
            <a:ext cx="1882378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 over Union (IoU)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73693" y="3509843"/>
            <a:ext cx="479786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5542" y="4264342"/>
            <a:ext cx="730377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Loss minimises false negatives (missing a spill), which is critical for environmental safety.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03168" y="1257538"/>
            <a:ext cx="288786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Evaluation Example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3168" y="1708071"/>
            <a:ext cx="5909191" cy="590919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25542" y="7955161"/>
            <a:ext cx="13579316" cy="1185863"/>
          </a:xfrm>
          <a:prstGeom prst="roundRect">
            <a:avLst>
              <a:gd name="adj" fmla="val 5319"/>
            </a:avLst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518041" y="7955161"/>
            <a:ext cx="13594318" cy="1185863"/>
          </a:xfrm>
          <a:prstGeom prst="roundRect">
            <a:avLst>
              <a:gd name="adj" fmla="val 1900"/>
            </a:avLst>
          </a:prstGeom>
          <a:solidFill>
            <a:srgbClr val="F2F2F2"/>
          </a:solidFill>
          <a:ln/>
        </p:spPr>
      </p:sp>
      <p:sp>
        <p:nvSpPr>
          <p:cNvPr id="23" name="Text 20"/>
          <p:cNvSpPr/>
          <p:nvPr/>
        </p:nvSpPr>
        <p:spPr>
          <a:xfrm>
            <a:off x="668179" y="8067794"/>
            <a:ext cx="13294043" cy="960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Simplified Training Loop Codemodel.compile(optimizer='adam', loss=DiceLoss, metrics=['accuracy', IoU])history = model.fit(train_data, epochs=50, validation_data=val_data)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1006" y="515660"/>
            <a:ext cx="6817043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Future Impact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41006" y="1380768"/>
            <a:ext cx="748189" cy="1376958"/>
          </a:xfrm>
          <a:prstGeom prst="roundRect">
            <a:avLst>
              <a:gd name="adj" fmla="val 3600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844" y="1928932"/>
            <a:ext cx="280511" cy="2805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6242" y="1567815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Accuracy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076242" y="1972270"/>
            <a:ext cx="689955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Achieves reliable segmentation with 92% Precision and 89% Recall on unseen test data.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141006" y="2944773"/>
            <a:ext cx="748189" cy="1122283"/>
          </a:xfrm>
          <a:prstGeom prst="roundRect">
            <a:avLst>
              <a:gd name="adj" fmla="val 3600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4844" y="3365540"/>
            <a:ext cx="280511" cy="2805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76242" y="3131820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 Localisation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076242" y="3536275"/>
            <a:ext cx="689955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near real-time spill detection, significantly reducing response time.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141006" y="4254103"/>
            <a:ext cx="748189" cy="1376958"/>
          </a:xfrm>
          <a:prstGeom prst="roundRect">
            <a:avLst>
              <a:gd name="adj" fmla="val 3600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4844" y="4802267"/>
            <a:ext cx="280511" cy="2805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76242" y="4441150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Monitoring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7076242" y="4845606"/>
            <a:ext cx="689955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robust framework for global, continuous environmental surveillance.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141006" y="5841444"/>
            <a:ext cx="7834789" cy="1872377"/>
          </a:xfrm>
          <a:prstGeom prst="roundRect">
            <a:avLst>
              <a:gd name="adj" fmla="val 4196"/>
            </a:avLst>
          </a:prstGeom>
          <a:solidFill>
            <a:srgbClr val="C7C9E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8053" y="6099215"/>
            <a:ext cx="292179" cy="2337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07279" y="6075164"/>
            <a:ext cx="3842861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 &amp; Acknowledgements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807279" y="6554510"/>
            <a:ext cx="6981468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Kaggle Marine Oil Spill Detection Project. Runtime: Google Colaboratory. Research: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Sentinel-1 SAR Oil Spill Detection Techniques (various sources).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2025-10-31T11:24:50Z</dcterms:created>
  <dcterms:modified xsi:type="dcterms:W3CDTF">2025-10-31T11:24:50Z</dcterms:modified>
</cp:coreProperties>
</file>